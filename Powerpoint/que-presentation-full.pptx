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800" b="1">
                <a:solidFill>
                  <a:srgbClr val="E8EAED"/>
                </a:solidFill>
                <a:latin typeface="Apple SD Gothic Neo"/>
              </a:rPr>
              <a:t>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154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9AA0A6"/>
                </a:solidFill>
                <a:latin typeface="Apple SD Gothic Neo"/>
              </a:rPr>
              <a:t>사내 별칭 GRIFF-SYSTEM · 전체 기능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79476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7488EA"/>
                </a:solidFill>
                <a:latin typeface="Apple SD Gothic Neo"/>
              </a:rPr>
              <a:t>감시하지 않고, 병목을 드러낸다</a:t>
            </a:r>
          </a:p>
          <a:p>
            <a:pPr algn="l">
              <a:lnSpc>
                <a:spcPct val="120000"/>
              </a:lnSpc>
            </a:pPr>
            <a:r>
              <a:rPr sz="2800" b="1">
                <a:solidFill>
                  <a:srgbClr val="7488EA"/>
                </a:solidFill>
                <a:latin typeface="Apple SD Gothic Neo"/>
              </a:rPr>
              <a:t>— 8인 팀의 Company Operating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9AA0A6"/>
                </a:solidFill>
                <a:latin typeface="Apple SD Gothic Neo"/>
              </a:rPr>
              <a:t>que.griff.co.kr  ·  2026-07-20(월) 베타 시작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E8EAED"/>
                </a:solidFill>
                <a:latin typeface="Apple SD Gothic Neo"/>
              </a:rPr>
              <a:t>왜 Que인가 — 지금 방식 vs Que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57800" cy="4206240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916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F26D6D"/>
                </a:solidFill>
                <a:latin typeface="Apple SD Gothic Neo"/>
              </a:rPr>
              <a:t>지금까지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4709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550" b="0">
                <a:solidFill>
                  <a:srgbClr val="E8EAED"/>
                </a:solidFill>
                <a:latin typeface="Apple SD Gothic Neo"/>
              </a:rPr>
              <a:t>보고는 회의로 — 아침 8명×15분</a:t>
            </a:r>
          </a:p>
          <a:p>
            <a:pPr algn="l">
              <a:lnSpc>
                <a:spcPct val="145000"/>
              </a:lnSpc>
            </a:pPr>
            <a:r>
              <a:rPr sz="1550" b="0">
                <a:solidFill>
                  <a:srgbClr val="E8EAED"/>
                </a:solidFill>
                <a:latin typeface="Apple SD Gothic Neo"/>
              </a:rPr>
              <a:t>결정은 슬랙 스레드에 흘러가고</a:t>
            </a:r>
          </a:p>
          <a:p>
            <a:pPr algn="l">
              <a:lnSpc>
                <a:spcPct val="145000"/>
              </a:lnSpc>
            </a:pPr>
            <a:r>
              <a:rPr sz="1550" b="0">
                <a:solidFill>
                  <a:srgbClr val="E8EAED"/>
                </a:solidFill>
                <a:latin typeface="Apple SD Gothic Neo"/>
              </a:rPr>
              <a:t>일정은 각자 머릿속에</a:t>
            </a:r>
          </a:p>
          <a:p>
            <a:pPr algn="l">
              <a:lnSpc>
                <a:spcPct val="145000"/>
              </a:lnSpc>
            </a:pPr>
            <a:r>
              <a:rPr sz="1550" b="0">
                <a:solidFill>
                  <a:srgbClr val="E8EAED"/>
                </a:solidFill>
                <a:latin typeface="Apple SD Gothic Neo"/>
              </a:rPr>
              <a:t>상태는 "그거 어떻게 됐어?"로 물어봐야</a:t>
            </a:r>
          </a:p>
          <a:p>
            <a:pPr algn="l">
              <a:lnSpc>
                <a:spcPct val="145000"/>
              </a:lnSpc>
            </a:pPr>
          </a:p>
          <a:p>
            <a:pPr algn="l">
              <a:lnSpc>
                <a:spcPct val="145000"/>
              </a:lnSpc>
            </a:pPr>
            <a:r>
              <a:rPr sz="1550" b="0">
                <a:solidFill>
                  <a:srgbClr val="E8EAED"/>
                </a:solidFill>
                <a:latin typeface="Apple SD Gothic Neo"/>
              </a:rPr>
              <a:t>→ 회사가 '사람 기억력'으로 돌아간다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57800" cy="4206240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916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34D399"/>
                </a:solidFill>
                <a:latin typeface="Apple SD Gothic Neo"/>
              </a:rPr>
              <a:t>Que에서는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286000"/>
            <a:ext cx="4709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550" b="0">
                <a:solidFill>
                  <a:srgbClr val="E8EAED"/>
                </a:solidFill>
                <a:latin typeface="Apple SD Gothic Neo"/>
              </a:rPr>
              <a:t>보고는 AI가 만들고 — 사람은 결정만</a:t>
            </a:r>
          </a:p>
          <a:p>
            <a:pPr algn="l">
              <a:lnSpc>
                <a:spcPct val="145000"/>
              </a:lnSpc>
            </a:pPr>
            <a:r>
              <a:rPr sz="1550" b="0">
                <a:solidFill>
                  <a:srgbClr val="E8EAED"/>
                </a:solidFill>
                <a:latin typeface="Apple SD Gothic Neo"/>
              </a:rPr>
              <a:t>결정은 기록되고, 회의가 작업으로 이어지고</a:t>
            </a:r>
          </a:p>
          <a:p>
            <a:pPr algn="l">
              <a:lnSpc>
                <a:spcPct val="145000"/>
              </a:lnSpc>
            </a:pPr>
            <a:r>
              <a:rPr sz="1550" b="0">
                <a:solidFill>
                  <a:srgbClr val="E8EAED"/>
                </a:solidFill>
                <a:latin typeface="Apple SD Gothic Neo"/>
              </a:rPr>
              <a:t>일정·마감·마일스톤이 한 달력에</a:t>
            </a:r>
          </a:p>
          <a:p>
            <a:pPr algn="l">
              <a:lnSpc>
                <a:spcPct val="145000"/>
              </a:lnSpc>
            </a:pPr>
            <a:r>
              <a:rPr sz="1550" b="0">
                <a:solidFill>
                  <a:srgbClr val="E8EAED"/>
                </a:solidFill>
                <a:latin typeface="Apple SD Gothic Neo"/>
              </a:rPr>
              <a:t>병목이 스스로 손을 든다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7488EA"/>
                </a:solidFill>
                <a:latin typeface="Apple SD Gothic Neo"/>
              </a:rPr>
              <a:t>"일하는 시간을 돌려드립니다. 보고는 30초, 나머지는 AI가."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E8EAED"/>
                </a:solidFill>
                <a:latin typeface="Apple SD Gothic Neo"/>
              </a:rPr>
              <a:t>전체 지도 — 한 장으로 보는 Que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10698480" cy="804672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81912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4D399"/>
                </a:solidFill>
                <a:latin typeface="Apple SD Gothic Neo"/>
              </a:rPr>
              <a:t>매일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50876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E8EAED"/>
                </a:solidFill>
                <a:latin typeface="Apple SD Gothic Neo"/>
              </a:rPr>
              <a:t>홈 · 데일리 · Copilot · 작업 목록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50876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9AA0A6"/>
                </a:solidFill>
                <a:latin typeface="Apple SD Gothic Neo"/>
              </a:rPr>
              <a:t>아침 조망 → 10시 체크인 → AI에게 질문 → 내 할 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50008"/>
            <a:ext cx="10698480" cy="804672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7488EA"/>
                </a:solidFill>
                <a:latin typeface="Apple SD Gothic Neo"/>
              </a:rPr>
              <a:t>실행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441448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E8EAED"/>
                </a:solidFill>
                <a:latin typeface="Apple SD Gothic Neo"/>
              </a:rPr>
              <a:t>프로젝트(칸반·간트) · 일정 ·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441448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9AA0A6"/>
                </a:solidFill>
                <a:latin typeface="Apple SD Gothic Neo"/>
              </a:rPr>
              <a:t>상태 이동 · 일정 확인 · 운영표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82696"/>
            <a:ext cx="10698480" cy="804672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44728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5C54B"/>
                </a:solidFill>
                <a:latin typeface="Apple SD Gothic Neo"/>
              </a:rPr>
              <a:t>운영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374136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E8EAED"/>
                </a:solidFill>
                <a:latin typeface="Apple SD Gothic Neo"/>
              </a:rPr>
              <a:t>팀 현황 · 회의록 · 반복·마일스톤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3374136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9AA0A6"/>
                </a:solidFill>
                <a:latin typeface="Apple SD Gothic Neo"/>
              </a:rPr>
              <a:t>팀 조망 · 회의 후 Action · 기한 약속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15384"/>
            <a:ext cx="10698480" cy="804672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379976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A78BFA"/>
                </a:solidFill>
                <a:latin typeface="Apple SD Gothic Neo"/>
              </a:rPr>
              <a:t>참조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306824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E8EAED"/>
                </a:solidFill>
                <a:latin typeface="Apple SD Gothic Neo"/>
              </a:rPr>
              <a:t>성과 · 멤버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4306824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9AA0A6"/>
                </a:solidFill>
                <a:latin typeface="Apple SD Gothic Neo"/>
              </a:rPr>
              <a:t>업무 분포(평가 아님) · 팀원 카드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148072"/>
            <a:ext cx="10698480" cy="804672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12664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9AA0A6"/>
                </a:solidFill>
                <a:latin typeface="Apple SD Gothic Neo"/>
              </a:rPr>
              <a:t>기타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5239512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E8EAED"/>
                </a:solidFill>
                <a:latin typeface="Apple SD Gothic Neo"/>
              </a:rPr>
              <a:t>결제요청 · 수정사항 · 도움말 · 설계 FAQ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5239512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9AA0A6"/>
                </a:solidFill>
                <a:latin typeface="Apple SD Gothic Neo"/>
              </a:rPr>
              <a:t>필요할 때만 — 문제 발견은 수정사항에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263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A0A6"/>
                </a:solidFill>
                <a:latin typeface="Apple SD Gothic Neo"/>
              </a:rPr>
              <a:t>여는 법 4가지: 왼쪽 사이드바 · ⌘K(첫 항목 ✨AI에게 묻기) · 폰 하단 탭 · Slack 딥링크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E8EAED"/>
                </a:solidFill>
                <a:latin typeface="Apple SD Gothic Neo"/>
              </a:rPr>
              <a:t>리듬 ① 하루 — 아침 30초, 저녁 0분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5943600" cy="8412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7488EA"/>
                </a:solidFill>
                <a:latin typeface="Apple SD Gothic Neo"/>
              </a:rPr>
              <a:t>09:30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508760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개인 브리핑 DM — 오늘 내 상황 요약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86584"/>
            <a:ext cx="5943600" cy="8412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7802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7488EA"/>
                </a:solidFill>
                <a:latin typeface="Apple SD Gothic Neo"/>
              </a:rPr>
              <a:t>10:00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2478024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스탠드업 오픈 — 폰 버튼 한 번, 체크인 30초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55848"/>
            <a:ext cx="5943600" cy="8412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4472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7488EA"/>
                </a:solidFill>
                <a:latin typeface="Apple SD Gothic Neo"/>
              </a:rPr>
              <a:t>10:40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3447288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미제출자만 재촉 DM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25112"/>
            <a:ext cx="5943600" cy="8412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165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7488EA"/>
                </a:solidFill>
                <a:latin typeface="Apple SD Gothic Neo"/>
              </a:rPr>
              <a:t>11:00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4416552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AI 팀 요약 — 막힘·흐름·추천 액션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294376"/>
            <a:ext cx="5943600" cy="8412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38581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7488EA"/>
                </a:solidFill>
                <a:latin typeface="Apple SD Gothic Neo"/>
              </a:rPr>
              <a:t>수시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5385816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Copilot에게 "오늘 뭐 해야 해?"</a:t>
            </a:r>
          </a:p>
        </p:txBody>
      </p:sp>
      <p:pic>
        <p:nvPicPr>
          <p:cNvPr id="18" name="Picture 17" descr="02-daily-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355789"/>
            <a:ext cx="4572000" cy="29693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E8EAED"/>
                </a:solidFill>
                <a:latin typeface="Apple SD Gothic Neo"/>
              </a:rPr>
              <a:t>리듬 ② 일주일 — 월요일 38분이 전부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5943600" cy="8412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7488EA"/>
                </a:solidFill>
                <a:latin typeface="Apple SD Gothic Neo"/>
              </a:rPr>
              <a:t>10:10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508760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AI가 회의 아젠다 팀채널 게시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86584"/>
            <a:ext cx="5943600" cy="8412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7802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7488EA"/>
                </a:solidFill>
                <a:latin typeface="Apple SD Gothic Neo"/>
              </a:rPr>
              <a:t>10:40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2478024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주간 통합 회의 — 5섹션 진행 모드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55848"/>
            <a:ext cx="5943600" cy="8412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4472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7488EA"/>
                </a:solidFill>
                <a:latin typeface="Apple SD Gothic Neo"/>
              </a:rPr>
              <a:t>회의 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3447288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간트에서 마일스톤 드래그로 기한 결정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25112"/>
            <a:ext cx="5943600" cy="8412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165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7488EA"/>
                </a:solidFill>
                <a:latin typeface="Apple SD Gothic Neo"/>
              </a:rPr>
              <a:t>회의 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4416552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회의록 자동 초안 → Action → 작업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294376"/>
            <a:ext cx="5943600" cy="8412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38581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7488EA"/>
                </a:solidFill>
                <a:latin typeface="Apple SD Gothic Neo"/>
              </a:rPr>
              <a:t>금 16:00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5385816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주간 프리뷰 — 다음 주 조망</a:t>
            </a:r>
          </a:p>
        </p:txBody>
      </p:sp>
      <p:pic>
        <p:nvPicPr>
          <p:cNvPr id="18" name="Picture 17" descr="05-gantt-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355789"/>
            <a:ext cx="4572000" cy="29693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E8EAED"/>
                </a:solidFill>
                <a:latin typeface="Apple SD Gothic Neo"/>
              </a:rPr>
              <a:t>리듬 ③ 수시 — 변경과 위기는 회의를 기다리지 않는다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5943600" cy="8412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7488EA"/>
                </a:solidFill>
                <a:latin typeface="Apple SD Gothic Neo"/>
              </a:rPr>
              <a:t>접수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508760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외부 변경 접수 → 24시간 영향 분석 마감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86584"/>
            <a:ext cx="5943600" cy="8412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7802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7488EA"/>
                </a:solidFill>
                <a:latin typeface="Apple SD Gothic Neo"/>
              </a:rPr>
              <a:t>대응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2478024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영향 분석 → 재협의 → 승인(단계 강제)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55848"/>
            <a:ext cx="5943600" cy="8412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4472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7488EA"/>
                </a:solidFill>
                <a:latin typeface="Apple SD Gothic Neo"/>
              </a:rPr>
              <a:t>종결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3447288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'관리된 대응' 회고 자동 기록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25112"/>
            <a:ext cx="5943600" cy="8412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165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7488EA"/>
                </a:solidFill>
                <a:latin typeface="Apple SD Gothic Neo"/>
              </a:rPr>
              <a:t>긴급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4416552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마일스톤 위험 → 관련자 2명에게만 결정 카드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294376"/>
            <a:ext cx="5943600" cy="8412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38581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7488EA"/>
                </a:solidFill>
                <a:latin typeface="Apple SD Gothic Neo"/>
              </a:rPr>
              <a:t>나머지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5385816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6명의 회의 시간 = 0분</a:t>
            </a:r>
          </a:p>
        </p:txBody>
      </p:sp>
      <p:pic>
        <p:nvPicPr>
          <p:cNvPr id="18" name="Picture 17" descr="03-copilot-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355789"/>
            <a:ext cx="4572000" cy="29693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8EAED"/>
                </a:solidFill>
                <a:latin typeface="Apple SD Gothic Neo"/>
              </a:rPr>
              <a:t>데일리 · 스탠드업 체크인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A0A6"/>
                </a:solidFill>
                <a:latin typeface="Apple SD Gothic Neo"/>
              </a:rPr>
              <a:t>메뉴: 데일리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394960" cy="12984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64207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26D6D"/>
                </a:solidFill>
                <a:latin typeface="Apple SD Gothic Neo"/>
              </a:rPr>
              <a:t>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93391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아침 보고 회의는 8명×15분을 태운다. 보고를 위한 보고가 일을 밀어낸다.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80944"/>
            <a:ext cx="5394960" cy="12984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09067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7488EA"/>
                </a:solidFill>
                <a:latin typeface="Apple SD Gothic Neo"/>
              </a:rPr>
              <a:t>어떻게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419856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10시 알림 → 폼 또는 AI 대화로 오늘의 포커스 한마디. 어제·오늘 작업은 자동으로 붙는다. 막히면 막힘 칸에.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07408"/>
            <a:ext cx="5394960" cy="12984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51713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34D399"/>
                </a:solidFill>
                <a:latin typeface="Apple SD Gothic Neo"/>
              </a:rPr>
              <a:t>잘 쓰면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8463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회의 없는 아침. 막힘이 오전에 드러나 도움이 당일 간다. 11시 AI 팀 요약.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8521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7488EA"/>
                </a:solidFill>
                <a:latin typeface="Apple SD Gothic Neo"/>
              </a:rPr>
              <a:t>"보고는 30초. 나머지는 AI가."</a:t>
            </a:r>
          </a:p>
        </p:txBody>
      </p:sp>
      <p:pic>
        <p:nvPicPr>
          <p:cNvPr id="14" name="Picture 13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8033" y="1280160"/>
            <a:ext cx="2366172" cy="5120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430000" y="411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>
                <a:solidFill>
                  <a:srgbClr val="9AA0A6"/>
                </a:solidFill>
                <a:latin typeface="Apple SD Gothic Neo"/>
              </a:rPr>
              <a:t>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8EAED"/>
                </a:solidFill>
                <a:latin typeface="Apple SD Gothic Neo"/>
              </a:rPr>
              <a:t>데일리 · OKR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A0A6"/>
                </a:solidFill>
                <a:latin typeface="Apple SD Gothic Neo"/>
              </a:rPr>
              <a:t>메뉴: 데일리 › OKR 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394960" cy="12984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64207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26D6D"/>
                </a:solidFill>
                <a:latin typeface="Apple SD Gothic Neo"/>
              </a:rPr>
              <a:t>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93391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바쁜 것과 전진하는 것은 다르다. Task ≠ Key Result.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80944"/>
            <a:ext cx="5394960" cy="12984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09067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7488EA"/>
                </a:solidFill>
                <a:latin typeface="Apple SD Gothic Neo"/>
              </a:rPr>
              <a:t>어떻게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419856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분기 목표(Objective) 아래 월 핵심결과(KR) — 수동·작업 자동·상태 체크 3방식. 내 작업을 KR에 연결.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07408"/>
            <a:ext cx="5394960" cy="12984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51713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34D399"/>
                </a:solidFill>
                <a:latin typeface="Apple SD Gothic Neo"/>
              </a:rPr>
              <a:t>잘 쓰면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8463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오늘 하는 일이 어느 목표를 미는지 매일 보인다. 분기말 몰아치기가 사라진다.</a:t>
            </a:r>
          </a:p>
        </p:txBody>
      </p:sp>
      <p:pic>
        <p:nvPicPr>
          <p:cNvPr id="13" name="Picture 12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40280"/>
            <a:ext cx="5120640" cy="320039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30000" y="411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>
                <a:solidFill>
                  <a:srgbClr val="9AA0A6"/>
                </a:solidFill>
                <a:latin typeface="Apple SD Gothic Neo"/>
              </a:rPr>
              <a:t>02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8EAED"/>
                </a:solidFill>
                <a:latin typeface="Apple SD Gothic Neo"/>
              </a:rPr>
              <a:t>Que Copilot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A0A6"/>
                </a:solidFill>
                <a:latin typeface="Apple SD Gothic Neo"/>
              </a:rPr>
              <a:t>메뉴: Copilot · ⌘K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394960" cy="12984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64207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26D6D"/>
                </a:solidFill>
                <a:latin typeface="Apple SD Gothic Neo"/>
              </a:rPr>
              <a:t>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93391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화면을 찾아다니고 폼을 채우는 시간 — 물어보면 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80944"/>
            <a:ext cx="5394960" cy="12984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09067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7488EA"/>
                </a:solidFill>
                <a:latin typeface="Apple SD Gothic Neo"/>
              </a:rPr>
              <a:t>어떻게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419856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조회는 실데이터로만 답하고, 등록·변경은 확인 카드 → [실행]. 프로젝트 생성도 대화로.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07408"/>
            <a:ext cx="5394960" cy="12984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51713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34D399"/>
                </a:solidFill>
                <a:latin typeface="Apple SD Gothic Neo"/>
              </a:rPr>
              <a:t>잘 쓰면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8463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등록 10초. 환각·오실행 이중 방어. 신입은 물어보며 배운다.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8521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7488EA"/>
                </a:solidFill>
                <a:latin typeface="Apple SD Gothic Neo"/>
              </a:rPr>
              <a:t>"실행은 언제나 사람이 확인한 후에."</a:t>
            </a:r>
          </a:p>
        </p:txBody>
      </p:sp>
      <p:pic>
        <p:nvPicPr>
          <p:cNvPr id="14" name="Picture 13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40280"/>
            <a:ext cx="5120640" cy="320039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430000" y="411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>
                <a:solidFill>
                  <a:srgbClr val="9AA0A6"/>
                </a:solidFill>
                <a:latin typeface="Apple SD Gothic Neo"/>
              </a:rPr>
              <a:t>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8EAED"/>
                </a:solidFill>
                <a:latin typeface="Apple SD Gothic Neo"/>
              </a:rPr>
              <a:t>작업 목록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A0A6"/>
                </a:solidFill>
                <a:latin typeface="Apple SD Gothic Neo"/>
              </a:rPr>
              <a:t>메뉴: 작업 목록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394960" cy="12984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64207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26D6D"/>
                </a:solidFill>
                <a:latin typeface="Apple SD Gothic Neo"/>
              </a:rPr>
              <a:t>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93391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내 하루의 진입점이 없으면 할 일이 머릿속·포스트잇·슬랙에 흩어진다.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80944"/>
            <a:ext cx="5394960" cy="12984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09067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7488EA"/>
                </a:solidFill>
                <a:latin typeface="Apple SD Gothic Neo"/>
              </a:rPr>
              <a:t>어떻게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419856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아침에 열어 확인 → 끝나면 완료 체크 → 새 일은 자연어로("금요일 오후 3시까지 배너 시안").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07408"/>
            <a:ext cx="5394960" cy="12984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51713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34D399"/>
                </a:solidFill>
                <a:latin typeface="Apple SD Gothic Neo"/>
              </a:rPr>
              <a:t>잘 쓰면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8463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"오늘 뭐부터?"와 "그거 어떻게 됐어?"가 동시에 사라진다.</a:t>
            </a:r>
          </a:p>
        </p:txBody>
      </p:sp>
      <p:pic>
        <p:nvPicPr>
          <p:cNvPr id="13" name="Picture 12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40280"/>
            <a:ext cx="5120640" cy="320039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30000" y="411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>
                <a:solidFill>
                  <a:srgbClr val="9AA0A6"/>
                </a:solidFill>
                <a:latin typeface="Apple SD Gothic Neo"/>
              </a:rPr>
              <a:t>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8EAED"/>
                </a:solidFill>
                <a:latin typeface="Apple SD Gothic Neo"/>
              </a:rPr>
              <a:t>프로젝트 — 칸반·간트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A0A6"/>
                </a:solidFill>
                <a:latin typeface="Apple SD Gothic Neo"/>
              </a:rPr>
              <a:t>메뉴: 프로젝트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394960" cy="12984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64207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26D6D"/>
                </a:solidFill>
                <a:latin typeface="Apple SD Gothic Neo"/>
              </a:rPr>
              <a:t>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93391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전황판이 없으면 PM의 머릿속이 단일 장애점이 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80944"/>
            <a:ext cx="5394960" cy="12984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09067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7488EA"/>
                </a:solidFill>
                <a:latin typeface="Apple SD Gothic Neo"/>
              </a:rPr>
              <a:t>어떻게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419856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4열 칸반 드래그(홀드·문제는 사유 필수), 실수는 [실행 취소]. 보드·목록·캘린더·간트 전환.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07408"/>
            <a:ext cx="5394960" cy="12984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51713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34D399"/>
                </a:solidFill>
                <a:latin typeface="Apple SD Gothic Neo"/>
              </a:rPr>
              <a:t>잘 쓰면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8463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어느 열에 카드가 쌓였는지 5초. 상태 공유 회의가 드래그 하나로 대체된다.</a:t>
            </a:r>
          </a:p>
        </p:txBody>
      </p:sp>
      <p:pic>
        <p:nvPicPr>
          <p:cNvPr id="13" name="Picture 12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40280"/>
            <a:ext cx="5120640" cy="320039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30000" y="411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>
                <a:solidFill>
                  <a:srgbClr val="9AA0A6"/>
                </a:solidFill>
                <a:latin typeface="Apple SD Gothic Neo"/>
              </a:rPr>
              <a:t>05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8EAED"/>
                </a:solidFill>
                <a:latin typeface="Apple SD Gothic Neo"/>
              </a:rPr>
              <a:t>일정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A0A6"/>
                </a:solidFill>
                <a:latin typeface="Apple SD Gothic Neo"/>
              </a:rPr>
              <a:t>메뉴: 일정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394960" cy="12984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64207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26D6D"/>
                </a:solidFill>
                <a:latin typeface="Apple SD Gothic Neo"/>
              </a:rPr>
              <a:t>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93391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회사 일정과 내 작업이 다른 곳에 살면, 충돌은 겹치고 나서야 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80944"/>
            <a:ext cx="5394960" cy="12984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09067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7488EA"/>
                </a:solidFill>
                <a:latin typeface="Apple SD Gothic Neo"/>
              </a:rPr>
              <a:t>어떻게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419856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주/월 달력에 일정+작업+마일스톤 칩. 중요 마일스톤은 노랑→주황 그라데이션 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07408"/>
            <a:ext cx="5394960" cy="12984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51713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34D399"/>
                </a:solidFill>
                <a:latin typeface="Apple SD Gothic Neo"/>
              </a:rPr>
              <a:t>잘 쓰면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8463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충돌이 사전에 드러난다. 외부 일정은 읽기 전용 — 실수로 못 건드린다.</a:t>
            </a:r>
          </a:p>
        </p:txBody>
      </p:sp>
      <p:pic>
        <p:nvPicPr>
          <p:cNvPr id="13" name="Picture 12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40280"/>
            <a:ext cx="5120640" cy="320039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30000" y="411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>
                <a:solidFill>
                  <a:srgbClr val="9AA0A6"/>
                </a:solidFill>
                <a:latin typeface="Apple SD Gothic Neo"/>
              </a:rPr>
              <a:t>06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8EAED"/>
                </a:solidFill>
                <a:latin typeface="Apple SD Gothic Neo"/>
              </a:rPr>
              <a:t>팀 현황 ·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A0A6"/>
                </a:solidFill>
                <a:latin typeface="Apple SD Gothic Neo"/>
              </a:rPr>
              <a:t>메뉴: 팀 현황 · Now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394960" cy="12984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64207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26D6D"/>
                </a:solidFill>
                <a:latin typeface="Apple SD Gothic Neo"/>
              </a:rPr>
              <a:t>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93391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"지금 누가 뭐에 막혀 있나"를 알려면 8명에게 하나씩 물어야 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80944"/>
            <a:ext cx="5394960" cy="12984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09067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7488EA"/>
                </a:solidFill>
                <a:latin typeface="Apple SD Gothic Neo"/>
              </a:rPr>
              <a:t>어떻게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419856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운영 보드에서 전원 상태·부하 조망. 타인 작업엔 댓글·도움 요청으로.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07408"/>
            <a:ext cx="5394960" cy="12984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51713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34D399"/>
                </a:solidFill>
                <a:latin typeface="Apple SD Gothic Neo"/>
              </a:rPr>
              <a:t>잘 쓰면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8463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병목이 스스로 손을 드는 팀. 점수화 없음 — 감시가 아니라 조망.</a:t>
            </a:r>
          </a:p>
        </p:txBody>
      </p:sp>
      <p:pic>
        <p:nvPicPr>
          <p:cNvPr id="13" name="Picture 12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40280"/>
            <a:ext cx="5120640" cy="320039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30000" y="411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>
                <a:solidFill>
                  <a:srgbClr val="9AA0A6"/>
                </a:solidFill>
                <a:latin typeface="Apple SD Gothic Neo"/>
              </a:rPr>
              <a:t>07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8EAED"/>
                </a:solidFill>
                <a:latin typeface="Apple SD Gothic Neo"/>
              </a:rPr>
              <a:t>회의록 ·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A0A6"/>
                </a:solidFill>
                <a:latin typeface="Apple SD Gothic Neo"/>
              </a:rPr>
              <a:t>메뉴: 회의록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394960" cy="12984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64207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26D6D"/>
                </a:solidFill>
                <a:latin typeface="Apple SD Gothic Neo"/>
              </a:rPr>
              <a:t>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93391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회의 결정이 채팅에 흩어지면 "그거 누가 하기로 했지?"가 매주 반복된다.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80944"/>
            <a:ext cx="5394960" cy="12984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09067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7488EA"/>
                </a:solidFill>
                <a:latin typeface="Apple SD Gothic Neo"/>
              </a:rPr>
              <a:t>어떻게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419856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회의록 업로드 → 할 일 자동 추출 → 담당·기한 있으면 작업으로, 없으면 '확인 필요'.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07408"/>
            <a:ext cx="5394960" cy="12984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51713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34D399"/>
                </a:solidFill>
                <a:latin typeface="Apple SD Gothic Neo"/>
              </a:rPr>
              <a:t>잘 쓰면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8463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기록되지 않은 결정 0건. 회의가 실제 작업으로 이어진다.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8521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7488EA"/>
                </a:solidFill>
                <a:latin typeface="Apple SD Gothic Neo"/>
              </a:rPr>
              <a:t>"결정이 곧 기록이다."</a:t>
            </a:r>
          </a:p>
        </p:txBody>
      </p:sp>
      <p:pic>
        <p:nvPicPr>
          <p:cNvPr id="14" name="Picture 13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40280"/>
            <a:ext cx="5120640" cy="320039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430000" y="411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>
                <a:solidFill>
                  <a:srgbClr val="9AA0A6"/>
                </a:solidFill>
                <a:latin typeface="Apple SD Gothic Neo"/>
              </a:rPr>
              <a:t>08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8EAED"/>
                </a:solidFill>
                <a:latin typeface="Apple SD Gothic Neo"/>
              </a:rPr>
              <a:t>반복 업무 · 마일스톤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A0A6"/>
                </a:solidFill>
                <a:latin typeface="Apple SD Gothic Neo"/>
              </a:rPr>
              <a:t>메뉴: 반복·마일스톤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394960" cy="12984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64207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26D6D"/>
                </a:solidFill>
                <a:latin typeface="Apple SD Gothic Neo"/>
              </a:rPr>
              <a:t>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93391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매주 같은 일을 매번 등록하는 낭비. 큰 기한이 위험해지는 걸 늦게 아는 사고.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80944"/>
            <a:ext cx="5394960" cy="12984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09067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7488EA"/>
                </a:solidFill>
                <a:latin typeface="Apple SD Gothic Neo"/>
              </a:rPr>
              <a:t>어떻게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419856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반복 템플릿은 한 번 켜두면 자동 생성. 마일스톤 위험 시 담당자에게 긴급 결정 카드(유지/연기/보류).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07408"/>
            <a:ext cx="5394960" cy="12984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51713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34D399"/>
                </a:solidFill>
                <a:latin typeface="Apple SD Gothic Neo"/>
              </a:rPr>
              <a:t>잘 쓰면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8463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기한 약속이 전 화면에 보이고, 위기는 회의를 기다리지 않는다.</a:t>
            </a:r>
          </a:p>
        </p:txBody>
      </p:sp>
      <p:pic>
        <p:nvPicPr>
          <p:cNvPr id="13" name="Picture 12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40280"/>
            <a:ext cx="5120640" cy="320039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30000" y="411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>
                <a:solidFill>
                  <a:srgbClr val="9AA0A6"/>
                </a:solidFill>
                <a:latin typeface="Apple SD Gothic Neo"/>
              </a:rPr>
              <a:t>09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8EAED"/>
                </a:solidFill>
                <a:latin typeface="Apple SD Gothic Neo"/>
              </a:rPr>
              <a:t>성과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A0A6"/>
                </a:solidFill>
                <a:latin typeface="Apple SD Gothic Neo"/>
              </a:rPr>
              <a:t>메뉴: 성과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394960" cy="12984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64207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26D6D"/>
                </a:solidFill>
                <a:latin typeface="Apple SD Gothic Neo"/>
              </a:rPr>
              <a:t>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93391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업무 몰림은 감으로 보이지 않는다. 몰림을 못 보면 재배분도 못 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80944"/>
            <a:ext cx="5394960" cy="12984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09067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7488EA"/>
                </a:solidFill>
                <a:latin typeface="Apple SD Gothic Neo"/>
              </a:rPr>
              <a:t>어떻게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419856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완료율·기한 초과·히트맵을 기간별로.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07408"/>
            <a:ext cx="5394960" cy="12984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51713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34D399"/>
                </a:solidFill>
                <a:latin typeface="Apple SD Gothic Neo"/>
              </a:rPr>
              <a:t>잘 쓰면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8463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재배분의 근거가 생긴다. 개인 평가가 아니다 — 순위도 점수도 없다.</a:t>
            </a:r>
          </a:p>
        </p:txBody>
      </p:sp>
      <p:pic>
        <p:nvPicPr>
          <p:cNvPr id="13" name="Picture 12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40280"/>
            <a:ext cx="5120640" cy="320039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30000" y="411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>
                <a:solidFill>
                  <a:srgbClr val="9AA0A6"/>
                </a:solidFill>
                <a:latin typeface="Apple SD Gothic Neo"/>
              </a:rPr>
              <a:t>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8EAED"/>
                </a:solidFill>
                <a:latin typeface="Apple SD Gothic Neo"/>
              </a:rPr>
              <a:t>결제요청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A0A6"/>
                </a:solidFill>
                <a:latin typeface="Apple SD Gothic Neo"/>
              </a:rPr>
              <a:t>메뉴: 결제요청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394960" cy="12984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64207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26D6D"/>
                </a:solidFill>
                <a:latin typeface="Apple SD Gothic Neo"/>
              </a:rPr>
              <a:t>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93391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결제 요청이 DM으로 오가면 흘러가 누락된다.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80944"/>
            <a:ext cx="5394960" cy="12984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09067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7488EA"/>
                </a:solidFill>
                <a:latin typeface="Apple SD Gothic Neo"/>
              </a:rPr>
              <a:t>어떻게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419856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요청 등록 → 대기/완료 추적. 계좌·금액은 권한별 마스킹.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07408"/>
            <a:ext cx="5394960" cy="12984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51713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34D399"/>
                </a:solidFill>
                <a:latin typeface="Apple SD Gothic Neo"/>
              </a:rPr>
              <a:t>잘 쓰면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8463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"입금됐나요?" 문의가 사라진다.</a:t>
            </a:r>
          </a:p>
        </p:txBody>
      </p:sp>
      <p:pic>
        <p:nvPicPr>
          <p:cNvPr id="13" name="Picture 12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40280"/>
            <a:ext cx="5120640" cy="320039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30000" y="411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>
                <a:solidFill>
                  <a:srgbClr val="9AA0A6"/>
                </a:solidFill>
                <a:latin typeface="Apple SD Gothic Neo"/>
              </a:rPr>
              <a:t>11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8EAED"/>
                </a:solidFill>
                <a:latin typeface="Apple SD Gothic Neo"/>
              </a:rPr>
              <a:t>알림 · Slack 연동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A0A6"/>
                </a:solidFill>
                <a:latin typeface="Apple SD Gothic Neo"/>
              </a:rPr>
              <a:t>메뉴: 알림 · 폰 하단 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394960" cy="12984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64207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26D6D"/>
                </a:solidFill>
                <a:latin typeface="Apple SD Gothic Neo"/>
              </a:rPr>
              <a:t>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93391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도구를 열어야만 아는 정보는 이미 늦다.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80944"/>
            <a:ext cx="5394960" cy="12984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09067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7488EA"/>
                </a:solidFill>
                <a:latin typeface="Apple SD Gothic Neo"/>
              </a:rPr>
              <a:t>어떻게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419856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내게 관련된 신호만 모인다. 아침 브리핑·스탠드업 버튼은 Slack DM으로 — 누르면 그 화면으로 바로.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07408"/>
            <a:ext cx="5394960" cy="1298448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51713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34D399"/>
                </a:solidFill>
                <a:latin typeface="Apple SD Gothic Neo"/>
              </a:rPr>
              <a:t>잘 쓰면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8463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8EAED"/>
                </a:solidFill>
                <a:latin typeface="Apple SD Gothic Neo"/>
              </a:rPr>
              <a:t>Que를 안 열어도 필요한 것이 먼저 찾아온다.</a:t>
            </a:r>
          </a:p>
        </p:txBody>
      </p:sp>
      <p:pic>
        <p:nvPicPr>
          <p:cNvPr id="13" name="Picture 12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40280"/>
            <a:ext cx="5120640" cy="320039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30000" y="411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0">
                <a:solidFill>
                  <a:srgbClr val="9AA0A6"/>
                </a:solidFill>
                <a:latin typeface="Apple SD Gothic Neo"/>
              </a:rPr>
              <a:t>12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E8EAED"/>
                </a:solidFill>
                <a:latin typeface="Apple SD Gothic Neo"/>
              </a:rPr>
              <a:t>지켜지는 규칙 — 그래서 안심하고 쓴다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257800" cy="1828800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7488EA"/>
                </a:solidFill>
                <a:latin typeface="Apple SD Gothic Neo"/>
              </a:rPr>
              <a:t>본인 작업만 수정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E8EAED"/>
                </a:solidFill>
                <a:latin typeface="Apple SD Gothic Neo"/>
              </a:rPr>
              <a:t>타인 작업엔 댓글·도움 요청만. 내 기록은 내 말이다.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554480"/>
            <a:ext cx="5257800" cy="1828800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59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7488EA"/>
                </a:solidFill>
                <a:latin typeface="Apple SD Gothic Neo"/>
              </a:rPr>
              <a:t>개인 평가·점수화 없음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59" y="237744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E8EAED"/>
                </a:solidFill>
                <a:latin typeface="Apple SD Gothic Neo"/>
              </a:rPr>
              <a:t>드러나는 것은 사람의 잘못이 아니라 병목이다.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5257800" cy="1828800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86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7488EA"/>
                </a:solidFill>
                <a:latin typeface="Apple SD Gothic Neo"/>
              </a:rPr>
              <a:t>문제·홀드는 사유와 함께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4805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E8EAED"/>
                </a:solidFill>
                <a:latin typeface="Apple SD Gothic Neo"/>
              </a:rPr>
              <a:t>맥락 없는 빨간불은 없다 — 무엇을 도우면 되는지가 함께 온다.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657600"/>
            <a:ext cx="5257800" cy="1828800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59" y="3886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7488EA"/>
                </a:solidFill>
                <a:latin typeface="Apple SD Gothic Neo"/>
              </a:rPr>
              <a:t>AI는 확인 후에만 실행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44805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E8EAED"/>
                </a:solidFill>
                <a:latin typeface="Apple SD Gothic Neo"/>
              </a:rPr>
              <a:t>답변은 실데이터에서만, 변경은 확인 카드에서 사람이 누른 후에만.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9AA0A6"/>
                </a:solidFill>
                <a:latin typeface="Apple SD Gothic Neo"/>
              </a:rPr>
              <a:t>"감시하는 도구가 아니라, 병목을 드러내는 도구."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E8EAED"/>
                </a:solidFill>
                <a:latin typeface="Apple SD Gothic Neo"/>
              </a:rPr>
              <a:t>숫자로 보는 효과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57800" cy="2057400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9164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>
                <a:solidFill>
                  <a:srgbClr val="34D399"/>
                </a:solidFill>
                <a:latin typeface="Apple SD Gothic Neo"/>
              </a:rPr>
              <a:t>주 49분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0604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E8EAED"/>
                </a:solidFill>
                <a:latin typeface="Apple SD Gothic Neo"/>
              </a:rPr>
              <a:t>1인당 회의 시간 — 주간 38분 + 데일리 2분×4. 보고는 AI가, 사람은 결정만.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463040"/>
            <a:ext cx="5257800" cy="2057400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59" y="169164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>
                <a:solidFill>
                  <a:srgbClr val="7488EA"/>
                </a:solidFill>
                <a:latin typeface="Apple SD Gothic Neo"/>
              </a:rPr>
              <a:t>0분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59" y="260604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E8EAED"/>
                </a:solidFill>
                <a:latin typeface="Apple SD Gothic Neo"/>
              </a:rPr>
              <a:t>긴급 결정 시 나머지 6명의 회의 시간 — 관련자 2명에게만 결정 카드.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94760"/>
            <a:ext cx="5257800" cy="2057400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0233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>
                <a:solidFill>
                  <a:srgbClr val="F5C54B"/>
                </a:solidFill>
                <a:latin typeface="Apple SD Gothic Neo"/>
              </a:rPr>
              <a:t>275개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9377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E8EAED"/>
                </a:solidFill>
                <a:latin typeface="Apple SD Gothic Neo"/>
              </a:rPr>
              <a:t>자동 테스트가 지키는 운영 규칙. 모든 변경은 누가·언제·무엇을·어떤 경로로.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794760"/>
            <a:ext cx="5257800" cy="2057400"/>
          </a:xfrm>
          <a:prstGeom prst="round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59" y="40233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>
                <a:solidFill>
                  <a:srgbClr val="A78BFA"/>
                </a:solidFill>
                <a:latin typeface="Apple SD Gothic Neo"/>
              </a:rPr>
              <a:t>2중 방어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49377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E8EAED"/>
                </a:solidFill>
                <a:latin typeface="Apple SD Gothic Neo"/>
              </a:rPr>
              <a:t>AI 답변은 실데이터에서만, 실행은 확인 후에만 — 환각·오실행 차단.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172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9AA0A6"/>
                </a:solidFill>
                <a:latin typeface="Apple SD Gothic Neo"/>
              </a:rPr>
              <a:t>어디서나: PC · 태블릿 · 폰(하단 탭) · Slack · 터미널(CLI) · Claude(MCP)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2860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E8EAED"/>
                </a:solidFill>
                <a:latin typeface="Apple SD Gothic Neo"/>
              </a:rPr>
              <a:t>첫 주는 이것만 — 3가지면 충분합니다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6576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900" b="1">
                <a:solidFill>
                  <a:srgbClr val="7488EA"/>
                </a:solidFill>
                <a:latin typeface="Apple SD Gothic Neo"/>
              </a:rPr>
              <a:t>① 매일 10시 체크인 30초   ② 끝나면 완료 체크   ③ 막히면 막힘 칸에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>
                <a:solidFill>
                  <a:srgbClr val="9AA0A6"/>
                </a:solidFill>
                <a:latin typeface="Apple SD Gothic Neo"/>
              </a:rPr>
              <a:t>베타 시작 2026-07-20(월) · que.griff.co.kr · 막히면 도움말·설계 FAQ·Copilot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